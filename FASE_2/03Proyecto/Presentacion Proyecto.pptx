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Space Grotesk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M+jCDSw3NC2GCt9wYfpTuV7gs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3B1F5B-CC67-4B47-970B-B5FB4CF0EA4B}">
  <a:tblStyle styleId="{BD3B1F5B-CC67-4B47-970B-B5FB4CF0EA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SpaceGrotesk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2pJUK7x2-iY6v_SelnpxjIu5f5-i-liL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://drive.google.com/file/d/1cC42oDEYhDZGaD5nyUwyQxOT7AJXZ1Nc/view" TargetMode="External"/><Relationship Id="rId6" Type="http://schemas.openxmlformats.org/officeDocument/2006/relationships/hyperlink" Target="http://drive.google.com/file/d/1nzaMUCrLiN4YfSz8wa8w0KLuntNE4Ry3/view" TargetMode="External"/><Relationship Id="rId7" Type="http://schemas.openxmlformats.org/officeDocument/2006/relationships/hyperlink" Target="http://drive.google.com/file/d/10i5VX85laEB6PZxwN_OU-pqTAbthcHXS/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762000" y="51816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62000" y="5181600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62000" y="609600"/>
            <a:ext cx="2219325" cy="304800"/>
          </a:xfrm>
          <a:prstGeom prst="roundRect">
            <a:avLst>
              <a:gd fmla="val 50000" name="adj"/>
            </a:avLst>
          </a:prstGeom>
          <a:solidFill>
            <a:srgbClr val="26285F"/>
          </a:solidFill>
          <a:ln cap="flat" cmpd="sng" w="9525">
            <a:solidFill>
              <a:srgbClr val="373C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62000" y="1219200"/>
            <a:ext cx="11251406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BarMatchIA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62000" y="2017365"/>
            <a:ext cx="723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Plataforma inteligente de gestión de reservas, aforo en tiempo real y analítica predictiva para bares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666750"/>
            <a:ext cx="2009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CAPSTONE PTY4614 · DUOC UC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095625" y="676275"/>
            <a:ext cx="22979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 — Estado del Proyecto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536781" y="5838825"/>
            <a:ext cx="2893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PRÓXIMO HITO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536781" y="6048375"/>
            <a:ext cx="2893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Congelamiento de Código: 15/11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762000" y="5495925"/>
            <a:ext cx="266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DE DESARROLLO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62000" y="5705475"/>
            <a:ext cx="22288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Raúl Guerra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 PO &amp; Servidor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Josefa Morales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 SM &amp; Analítica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Daniel Godfray</a:t>
            </a: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 Apps &amp; QA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3352800" y="5495925"/>
            <a:ext cx="1654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DOCENTE &amp; SECCIÓN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3352800" y="5705475"/>
            <a:ext cx="14192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Aldo Martinez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2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Sección 801V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609600" y="5753100"/>
            <a:ext cx="10972800" cy="64770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09600" y="2303264"/>
            <a:ext cx="5334000" cy="2289571"/>
          </a:xfrm>
          <a:prstGeom prst="roundRect">
            <a:avLst>
              <a:gd fmla="val 66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248400" y="2303264"/>
            <a:ext cx="5334000" cy="2289571"/>
          </a:xfrm>
          <a:prstGeom prst="roundRect">
            <a:avLst>
              <a:gd fmla="val 6656" name="adj"/>
            </a:avLst>
          </a:prstGeom>
          <a:solidFill>
            <a:srgbClr val="E0E7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0125075" y="5953125"/>
            <a:ext cx="1257300" cy="247650"/>
          </a:xfrm>
          <a:prstGeom prst="roundRect">
            <a:avLst>
              <a:gd fmla="val 46153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6175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61758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700" y="272236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722364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INTRODUCCIÓN Y CONTEXTO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Optimizando la Experiencia Nocturna y la Operación Gastronómica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0239375" y="5991225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MVP en Pruebas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923925" y="3150989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Fricción para el Cliente: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Reservas informales vía WhatsApp o esperas presenciales sin certeza de disponibilidad real.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923925" y="3790950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Ineficiencia en Bares: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Gestión manual expuesta a sobreventa, pérdidas por </a:t>
            </a:r>
            <a:r>
              <a:rPr b="0" i="1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no-show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pérdida de datos operativos clave.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562725" y="3150989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Integrado:</a:t>
            </a:r>
            <a:r>
              <a:rPr b="0" i="0" lang="en-US" sz="1200" u="none" cap="none" strike="noStrike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 móvil para clientes con reserva QR en bloques de 30 min y app para staff con validación por cámara.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562725" y="3790950"/>
            <a:ext cx="4800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e Inteligencia:</a:t>
            </a:r>
            <a:r>
              <a:rPr b="0" i="0" lang="en-US" sz="1200" u="none" cap="none" strike="noStrike">
                <a:solidFill>
                  <a:srgbClr val="312E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Panel web de administración con analítica predictiva de demanda e historial transaccional sin sobreventa.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09625" y="5986462"/>
            <a:ext cx="250031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Inicio Proyecto: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07/09/2026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3114675" y="5986462"/>
            <a:ext cx="3619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 Actual: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Fase 2 Capstone (Mid-term)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315075" y="5986462"/>
            <a:ext cx="27384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Presentación Final:</a:t>
            </a: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04/12/2026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419225" y="2689026"/>
            <a:ext cx="268783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Identificado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7058025" y="2689026"/>
            <a:ext cx="25503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Solución BarMatchIA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609600" y="3286125"/>
            <a:ext cx="10972800" cy="1019175"/>
          </a:xfrm>
          <a:prstGeom prst="roundRect">
            <a:avLst>
              <a:gd fmla="val 1121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9600" y="1295400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343400" y="1295400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8077200" y="1295400"/>
            <a:ext cx="3505200" cy="1762125"/>
          </a:xfrm>
          <a:prstGeom prst="roundRect">
            <a:avLst>
              <a:gd fmla="val 648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09600" y="3286125"/>
            <a:ext cx="38100" cy="101917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847725" y="2343150"/>
            <a:ext cx="3028950" cy="476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4581525" y="2343150"/>
            <a:ext cx="3028950" cy="47625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315325" y="2343150"/>
            <a:ext cx="3028950" cy="323850"/>
          </a:xfrm>
          <a:prstGeom prst="roundRect">
            <a:avLst>
              <a:gd fmla="val 1764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15573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1557337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1557337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EVOLUCIÓN TÉCNICA Y OPERATIVA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Diferencias Clave: Plan Inicial vs. Decisiones Vigentes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38200" y="3476625"/>
            <a:ext cx="11353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Ajuste de Alcance Operativo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838200" y="3714750"/>
            <a:ext cx="10648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descartaron módulos de caja, reseñas y alergias (por cumplimiento de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Ley 21.719 de protección de datos de salud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 En su lugar, se priorizaron </a:t>
            </a:r>
            <a:r>
              <a:rPr b="1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atención walk-in, combinación de mesas y marcado automático de no-show</a:t>
            </a:r>
            <a:r>
              <a:rPr b="0" i="0" lang="en-US" sz="10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 los 15 minutos.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1095375" y="1533525"/>
            <a:ext cx="371546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&amp; Datos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47725" y="186690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FastAPI + PostgreSQL en VPS propio.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847725" y="211455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Ahora: NestJS + Supabase Cloud.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923925" y="24193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Reducción de carga de infraestructura y Auth listo.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810125" y="1533525"/>
            <a:ext cx="373546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Concurrencia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581525" y="186690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Redis externo con lock en memoria.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4581525" y="211455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Ahora: Transacción Postgres con Advisory Lock.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4657725" y="24193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Cero riesgo de sobreventa con única fuente de verdad.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524875" y="1533525"/>
            <a:ext cx="3667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&amp; Apps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315325" y="186690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Antes:</a:t>
            </a: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PWA única en SvelteKit.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8315325" y="211455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Ahora: App Nativa Expo + Web React Vite.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8391525" y="2419350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Uso confiable de cámara física para lecturas QR.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/>
          <p:nvPr/>
        </p:nvSpPr>
        <p:spPr>
          <a:xfrm>
            <a:off x="7029450" y="2078533"/>
            <a:ext cx="4552950" cy="3539132"/>
          </a:xfrm>
          <a:prstGeom prst="roundRect">
            <a:avLst>
              <a:gd fmla="val 430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09600" y="2366962"/>
            <a:ext cx="6115050" cy="885825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09600" y="3405187"/>
            <a:ext cx="6115050" cy="885825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09600" y="4443412"/>
            <a:ext cx="6115050" cy="885825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809625" y="2786062"/>
            <a:ext cx="571500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09625" y="3824287"/>
            <a:ext cx="571500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809625" y="4862512"/>
            <a:ext cx="5715000" cy="9525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809625" y="2786062"/>
            <a:ext cx="5314950" cy="952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809625" y="3824287"/>
            <a:ext cx="2171700" cy="95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809625" y="4862500"/>
            <a:ext cx="1482000" cy="95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7" name="Google Shape;1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7575" y="2316658"/>
            <a:ext cx="40767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ESTADO DEL DESARROLLO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Avance del Alcance (27 de 60 Tareas Completadas - 45%)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7267575" y="4602650"/>
            <a:ext cx="4076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Operativa Disponible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7267575" y="4859825"/>
            <a:ext cx="40767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navegable de extremo a extremo: flujo de reserva en app móvil cliente, escáner QR en tablet de local y panel de supervisión en web.</a:t>
            </a:r>
            <a:endParaRPr sz="1200"/>
          </a:p>
        </p:txBody>
      </p:sp>
      <p:sp>
        <p:nvSpPr>
          <p:cNvPr id="172" name="Google Shape;172;p4"/>
          <p:cNvSpPr txBox="1"/>
          <p:nvPr/>
        </p:nvSpPr>
        <p:spPr>
          <a:xfrm>
            <a:off x="809625" y="2938462"/>
            <a:ext cx="7143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Pantallas navegables completas con datos simulados (mocks).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809625" y="3976687"/>
            <a:ext cx="7143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Entrega datos de prueba; falta </a:t>
            </a:r>
            <a:r>
              <a:rPr lang="en-US" sz="97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</a:t>
            </a: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reserva sin sobreventa.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809625" y="5014912"/>
            <a:ext cx="7143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Diseñada estructuralmente; requiere generación de datos sintéticos.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809625" y="2528887"/>
            <a:ext cx="22621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Aplicaciones Móvil &amp; Web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5305425" y="2528875"/>
            <a:ext cx="1419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93% (27/29 tareas)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809625" y="3567112"/>
            <a:ext cx="18930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Servidor API &amp; Lógica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5381625" y="3567100"/>
            <a:ext cx="1343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38% (7/18 tareas)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809625" y="4605337"/>
            <a:ext cx="18573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Analítica &amp; Modelo IA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5410200" y="4605325"/>
            <a:ext cx="131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</a:t>
            </a: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 (</a:t>
            </a:r>
            <a:r>
              <a:rPr b="1" lang="en-US" sz="1050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r>
              <a:rPr b="1" i="0" lang="en-US" sz="1050" u="none" cap="none" strike="noStrike">
                <a:solidFill>
                  <a:srgbClr val="EF444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/13 tareas)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609600" y="4562475"/>
            <a:ext cx="10972800" cy="552450"/>
          </a:xfrm>
          <a:prstGeom prst="roundRect">
            <a:avLst>
              <a:gd fmla="val 20689" name="adj"/>
            </a:avLst>
          </a:prstGeom>
          <a:solidFill>
            <a:srgbClr val="E0F2FE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039367" y="2076450"/>
            <a:ext cx="714375" cy="219075"/>
          </a:xfrm>
          <a:prstGeom prst="roundRect">
            <a:avLst>
              <a:gd fmla="val 2608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039367" y="2695575"/>
            <a:ext cx="714375" cy="219075"/>
          </a:xfrm>
          <a:prstGeom prst="roundRect">
            <a:avLst>
              <a:gd fmla="val 26086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148905" y="3228975"/>
            <a:ext cx="495300" cy="390525"/>
          </a:xfrm>
          <a:prstGeom prst="roundRect">
            <a:avLst>
              <a:gd fmla="val 14634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3182242" y="3848100"/>
            <a:ext cx="428625" cy="390525"/>
          </a:xfrm>
          <a:prstGeom prst="roundRect">
            <a:avLst>
              <a:gd fmla="val 14634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4724400"/>
            <a:ext cx="22860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5"/>
          <p:cNvGraphicFramePr/>
          <p:nvPr/>
        </p:nvGraphicFramePr>
        <p:xfrm>
          <a:off x="6096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{BD3B1F5B-CC67-4B47-970B-B5FB4CF0EA4B}</a:tableStyleId>
              </a:tblPr>
              <a:tblGrid>
                <a:gridCol w="2276475"/>
                <a:gridCol w="1021100"/>
                <a:gridCol w="3977275"/>
                <a:gridCol w="3697925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Riesgo Crítico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Prob. / Imp.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Plan de Prevención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Acción si Ocurre (Contingencia)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Descalce entre Apps y API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Conexión progresiva módulo a módulo e integración continua con pruebas.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Demostrar con servidor en memoria y recortar funciones secundarias.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Atraso y Carga Desigual en Equipo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Sprints semanales y reasignación de apoyo de Daniel a backend/analítica.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Recorte formal de alcance por PO: pasar lista de espera a V2.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Sobreventa por Reservas Simultáneas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Transacción Postgres con candado por local y fecha. Pruebas de estrés.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Candado exclusivo por local completo (mecanismo más simple).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Falta de Datos para Modelo de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Generación de dataset sintético reproducible y métricas descriptivas.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Entregar panel de indicadores y modelo predictivo simplificado.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GESTIÓN Y MITIGACIÓN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Matriz de Riesgos y Plan de Prevención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1190625" y="4752082"/>
            <a:ext cx="11001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Cumplimiento Ley 21.719 (Datos Personales):</a:t>
            </a:r>
            <a:r>
              <a:rPr b="0" i="0" lang="en-US" sz="975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utilizan exclusivamente datos sintéticos, claves sustitutas para analítica sin vincular identidades y sin registrar datos de salud.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2972692" y="2114550"/>
            <a:ext cx="847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Alta / Alto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2972692" y="2733675"/>
            <a:ext cx="8477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Alta / Alto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3082230" y="3267075"/>
            <a:ext cx="628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 / Alto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3115567" y="3886200"/>
            <a:ext cx="561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Alta / Medio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3B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5029200" y="1393477"/>
            <a:ext cx="2133600" cy="304800"/>
          </a:xfrm>
          <a:prstGeom prst="roundRect">
            <a:avLst>
              <a:gd fmla="val 50000" name="adj"/>
            </a:avLst>
          </a:prstGeom>
          <a:solidFill>
            <a:srgbClr val="26285F"/>
          </a:solidFill>
          <a:ln cap="flat" cmpd="sng" w="9525">
            <a:solidFill>
              <a:srgbClr val="373C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809750" y="3902273"/>
            <a:ext cx="2705100" cy="762000"/>
          </a:xfrm>
          <a:prstGeom prst="roundRect">
            <a:avLst>
              <a:gd fmla="val 15000" name="adj"/>
            </a:avLst>
          </a:prstGeom>
          <a:solidFill>
            <a:srgbClr val="232545"/>
          </a:solidFill>
          <a:ln cap="flat" cmpd="sng" w="9525">
            <a:solidFill>
              <a:srgbClr val="2E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743450" y="3902273"/>
            <a:ext cx="2705100" cy="762000"/>
          </a:xfrm>
          <a:prstGeom prst="roundRect">
            <a:avLst>
              <a:gd fmla="val 15000" name="adj"/>
            </a:avLst>
          </a:prstGeom>
          <a:solidFill>
            <a:srgbClr val="232545"/>
          </a:solidFill>
          <a:ln cap="flat" cmpd="sng" w="9525">
            <a:solidFill>
              <a:srgbClr val="2E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7677150" y="3902273"/>
            <a:ext cx="2705100" cy="762000"/>
          </a:xfrm>
          <a:prstGeom prst="roundRect">
            <a:avLst>
              <a:gd fmla="val 15000" name="adj"/>
            </a:avLst>
          </a:prstGeom>
          <a:solidFill>
            <a:srgbClr val="232545"/>
          </a:solidFill>
          <a:ln cap="flat" cmpd="sng" w="9525">
            <a:solidFill>
              <a:srgbClr val="2E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914900" y="1450627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CONCLUSIÓN Y RUTA CRÍTICA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1151632" y="1926877"/>
            <a:ext cx="988873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Hacia el Congelamiento de Código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1928812" y="2698402"/>
            <a:ext cx="8334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arquitectura y reglas del negocio están consolidadas. El foco de las próximas 4 semanas es la integración técnica continua y el respeto estricto de las fechas de corte.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3764458" y="5121473"/>
            <a:ext cx="466308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¿Preguntas o Comentarios?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1721643" y="4102298"/>
            <a:ext cx="2881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25/10 — Corte 1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1721643" y="4311848"/>
            <a:ext cx="2881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Reserva real conectada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4655343" y="4102298"/>
            <a:ext cx="2881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01/11 — Corte 2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4655343" y="4311848"/>
            <a:ext cx="2881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ETL y copia analítica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7589043" y="4102298"/>
            <a:ext cx="28813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15/11 — Hito Clave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7589043" y="4311848"/>
            <a:ext cx="2881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Congelamiento de código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 txBox="1"/>
          <p:nvPr/>
        </p:nvSpPr>
        <p:spPr>
          <a:xfrm>
            <a:off x="571500" y="571500"/>
            <a:ext cx="294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Demostración Técnica</a:t>
            </a:r>
            <a:endParaRPr/>
          </a:p>
        </p:txBody>
      </p:sp>
      <p:pic>
        <p:nvPicPr>
          <p:cNvPr id="223" name="Google Shape;223;p7" title="ADMIN WhatsApp Video 2026-10-18 at 23.53.58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9500" y="359182"/>
            <a:ext cx="4431625" cy="281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7" title="Empleado WhatsApp Video 2026-10-19 at 00.08.53.mp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6700" y="1262500"/>
            <a:ext cx="3284450" cy="522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5" name="Google Shape;225;p7" title="PLATFORM WhatsApp Video 2026-10-19 at 00.30.10.mp4">
            <a:hlinkClick r:id="rId6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9500" y="3461025"/>
            <a:ext cx="4431625" cy="30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7" title="ModuloUsuario20261019.mp4">
            <a:hlinkClick r:id="rId7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62500"/>
            <a:ext cx="3061900" cy="52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