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Horizon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6" d="100"/>
          <a:sy n="76" d="100"/>
        </p:scale>
        <p:origin x="-378" y="-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11.png"/><Relationship Id="rId7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png"/><Relationship Id="rId5" Type="http://schemas.openxmlformats.org/officeDocument/2006/relationships/image" Target="../media/image15.emf"/><Relationship Id="rId4" Type="http://schemas.openxmlformats.org/officeDocument/2006/relationships/package" Target="../embeddings/Microsoft_Excel_Worksheet2.xls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47375" y="1961005"/>
            <a:ext cx="10244513" cy="8325995"/>
          </a:xfrm>
          <a:custGeom>
            <a:avLst/>
            <a:gdLst/>
            <a:ahLst/>
            <a:cxnLst/>
            <a:rect l="l" t="t" r="r" b="b"/>
            <a:pathLst>
              <a:path w="10244513" h="8325995">
                <a:moveTo>
                  <a:pt x="0" y="0"/>
                </a:moveTo>
                <a:lnTo>
                  <a:pt x="10244513" y="0"/>
                </a:lnTo>
                <a:lnTo>
                  <a:pt x="10244513" y="8325995"/>
                </a:lnTo>
                <a:lnTo>
                  <a:pt x="0" y="8325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529579">
            <a:off x="10150859" y="-1895551"/>
            <a:ext cx="10244513" cy="8325995"/>
          </a:xfrm>
          <a:custGeom>
            <a:avLst/>
            <a:gdLst/>
            <a:ahLst/>
            <a:cxnLst/>
            <a:rect l="l" t="t" r="r" b="b"/>
            <a:pathLst>
              <a:path w="10244513" h="8325995">
                <a:moveTo>
                  <a:pt x="0" y="0"/>
                </a:moveTo>
                <a:lnTo>
                  <a:pt x="10244513" y="0"/>
                </a:lnTo>
                <a:lnTo>
                  <a:pt x="10244513" y="8325995"/>
                </a:lnTo>
                <a:lnTo>
                  <a:pt x="0" y="8325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68943" y="3954338"/>
            <a:ext cx="8950115" cy="111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1"/>
              </a:lnSpc>
            </a:pPr>
            <a:r>
              <a:rPr lang="en-US" sz="61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Barmatch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37838" y="2920811"/>
            <a:ext cx="7012324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Proyecto Capstone: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3810" y="8455771"/>
            <a:ext cx="3660380" cy="112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3"/>
              </a:lnSpc>
            </a:pPr>
            <a:r>
              <a:rPr lang="en-US" sz="2167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Raul Guerra</a:t>
            </a:r>
          </a:p>
          <a:p>
            <a:pPr algn="ctr">
              <a:lnSpc>
                <a:spcPts val="3033"/>
              </a:lnSpc>
            </a:pPr>
            <a:r>
              <a:rPr lang="en-US" sz="2167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Josefa Morales</a:t>
            </a:r>
          </a:p>
          <a:p>
            <a:pPr algn="ctr">
              <a:lnSpc>
                <a:spcPts val="3033"/>
              </a:lnSpc>
            </a:pPr>
            <a:r>
              <a:rPr lang="en-US" sz="2167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Daniel Godfray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82153" y="402658"/>
            <a:ext cx="12475900" cy="9481684"/>
          </a:xfrm>
          <a:custGeom>
            <a:avLst/>
            <a:gdLst/>
            <a:ahLst/>
            <a:cxnLst/>
            <a:rect l="l" t="t" r="r" b="b"/>
            <a:pathLst>
              <a:path w="12475900" h="9481684">
                <a:moveTo>
                  <a:pt x="0" y="0"/>
                </a:moveTo>
                <a:lnTo>
                  <a:pt x="12475900" y="0"/>
                </a:lnTo>
                <a:lnTo>
                  <a:pt x="12475900" y="9481684"/>
                </a:lnTo>
                <a:lnTo>
                  <a:pt x="0" y="9481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76300"/>
            <a:ext cx="5992846" cy="8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Contenidos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41518"/>
            <a:ext cx="6153453" cy="470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Introducción</a:t>
            </a:r>
          </a:p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Contexto</a:t>
            </a:r>
          </a:p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Problemática</a:t>
            </a:r>
          </a:p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Solución</a:t>
            </a:r>
          </a:p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Mapa Tecnológico/Arquitectura</a:t>
            </a:r>
          </a:p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Competencias</a:t>
            </a:r>
          </a:p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Riesgos</a:t>
            </a:r>
          </a:p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Seguridad</a:t>
            </a:r>
          </a:p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Modelo de Negocio</a:t>
            </a:r>
          </a:p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Mockup</a:t>
            </a:r>
          </a:p>
          <a:p>
            <a:pPr marL="529802" lvl="1" indent="-264901" algn="l">
              <a:lnSpc>
                <a:spcPts val="3435"/>
              </a:lnSpc>
              <a:buAutoNum type="arabicPeriod"/>
            </a:pPr>
            <a:r>
              <a:rPr lang="en-US" sz="2453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Conclusión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666251" y="0"/>
            <a:ext cx="15087600" cy="10287000"/>
          </a:xfrm>
          <a:custGeom>
            <a:avLst/>
            <a:gdLst/>
            <a:ahLst/>
            <a:cxnLst/>
            <a:rect l="l" t="t" r="r" b="b"/>
            <a:pathLst>
              <a:path w="15087600" h="10287000">
                <a:moveTo>
                  <a:pt x="0" y="0"/>
                </a:moveTo>
                <a:lnTo>
                  <a:pt x="15087600" y="0"/>
                </a:lnTo>
                <a:lnTo>
                  <a:pt x="150876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9327795" y="-2333175"/>
            <a:ext cx="16769193" cy="12226266"/>
          </a:xfrm>
          <a:custGeom>
            <a:avLst/>
            <a:gdLst/>
            <a:ahLst/>
            <a:cxnLst/>
            <a:rect l="l" t="t" r="r" b="b"/>
            <a:pathLst>
              <a:path w="16769193" h="12226266">
                <a:moveTo>
                  <a:pt x="0" y="0"/>
                </a:moveTo>
                <a:lnTo>
                  <a:pt x="16769192" y="0"/>
                </a:lnTo>
                <a:lnTo>
                  <a:pt x="16769192" y="12226266"/>
                </a:lnTo>
                <a:lnTo>
                  <a:pt x="0" y="12226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29444" y="6246925"/>
            <a:ext cx="3029111" cy="3059708"/>
          </a:xfrm>
          <a:custGeom>
            <a:avLst/>
            <a:gdLst/>
            <a:ahLst/>
            <a:cxnLst/>
            <a:rect l="l" t="t" r="r" b="b"/>
            <a:pathLst>
              <a:path w="3029111" h="3059708">
                <a:moveTo>
                  <a:pt x="0" y="0"/>
                </a:moveTo>
                <a:lnTo>
                  <a:pt x="3029112" y="0"/>
                </a:lnTo>
                <a:lnTo>
                  <a:pt x="3029112" y="3059708"/>
                </a:lnTo>
                <a:lnTo>
                  <a:pt x="0" y="3059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906136" y="1175930"/>
            <a:ext cx="8475728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01/</a:t>
            </a:r>
          </a:p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Introducción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06136" y="3579710"/>
            <a:ext cx="8475728" cy="1933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10"/>
              </a:lnSpc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Salir a un bar o restaurante genera incertidumbre en el cliente ("¿Habrá espacio?", "¿Cómo aseguro mi lugar?") debido a que la información suele estar fragmentada. Simultáneamente, los locales comerciales administran reservas y enfrentan no-shows o fluctuaciones de demanda, pero su información operativa rara vez se transforma en conocimiento estratégico para la toma de decisiones.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79409" y="-1443573"/>
            <a:ext cx="11014503" cy="7509888"/>
          </a:xfrm>
          <a:custGeom>
            <a:avLst/>
            <a:gdLst/>
            <a:ahLst/>
            <a:cxnLst/>
            <a:rect l="l" t="t" r="r" b="b"/>
            <a:pathLst>
              <a:path w="11014503" h="7509888">
                <a:moveTo>
                  <a:pt x="0" y="0"/>
                </a:moveTo>
                <a:lnTo>
                  <a:pt x="11014502" y="0"/>
                </a:lnTo>
                <a:lnTo>
                  <a:pt x="11014502" y="7509888"/>
                </a:lnTo>
                <a:lnTo>
                  <a:pt x="0" y="7509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272882" y="6711138"/>
            <a:ext cx="13075421" cy="9533171"/>
          </a:xfrm>
          <a:custGeom>
            <a:avLst/>
            <a:gdLst/>
            <a:ahLst/>
            <a:cxnLst/>
            <a:rect l="l" t="t" r="r" b="b"/>
            <a:pathLst>
              <a:path w="13075421" h="9533171">
                <a:moveTo>
                  <a:pt x="0" y="0"/>
                </a:moveTo>
                <a:lnTo>
                  <a:pt x="13075422" y="0"/>
                </a:lnTo>
                <a:lnTo>
                  <a:pt x="13075422" y="9533171"/>
                </a:lnTo>
                <a:lnTo>
                  <a:pt x="0" y="9533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40990" y="189016"/>
            <a:ext cx="8891752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02/</a:t>
            </a:r>
          </a:p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CONTEXTO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40990" y="2159052"/>
            <a:ext cx="8891752" cy="517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10"/>
              </a:lnSpc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Durante 2025 y 2026 se ha mostrado una baja considerable del consumo de alcohol en Chile, según una noticia de el diario </a:t>
            </a:r>
            <a:r>
              <a:rPr lang="en-US" sz="1864" i="1">
                <a:solidFill>
                  <a:srgbClr val="FFFFFF"/>
                </a:solidFill>
                <a:latin typeface="Garet Italics"/>
                <a:ea typeface="Garet Italics"/>
                <a:cs typeface="Garet Italics"/>
                <a:sym typeface="Garet Italics"/>
              </a:rPr>
              <a:t>La Tercera</a:t>
            </a: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en diciembre de 2025 SENDA mostró que solamente 34,6% de los chilenos consumió alcohol en los últimos meses. Esto también se ha asociado a que la nueva generación de adultos jovenes ha reducido su consumo debido a las nueva tendencias de una vida más saludable.</a:t>
            </a:r>
          </a:p>
          <a:p>
            <a:pPr algn="just">
              <a:lnSpc>
                <a:spcPts val="2610"/>
              </a:lnSpc>
            </a:pPr>
            <a:endParaRPr lang="en-US" sz="18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610"/>
              </a:lnSpc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Pero los bares y restaurantes no solo son un espacio de consumo, también son espacios para sociabilizar y tener encuentros con amigos, reuniones con familiares, etc. En 2026 según la Encuensta Bicentenario UC 2025 muestra que la sociedad chilen considera tener muchos amigos pero a la vez tener una gran sensación de soledad, esto principalmente por los jovenes. Según un estudio de la Potificie Univerdida Catolica en 2025, un 7% de los jovenes declara no tener vinculos sociales, mientras que un 22% declara sentirse solos, todos dentro de un rango de 18 a 34 años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535" y="4445537"/>
            <a:ext cx="6037982" cy="5315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6566" y="-454572"/>
            <a:ext cx="13674633" cy="9970050"/>
          </a:xfrm>
          <a:custGeom>
            <a:avLst/>
            <a:gdLst/>
            <a:ahLst/>
            <a:cxnLst/>
            <a:rect l="l" t="t" r="r" b="b"/>
            <a:pathLst>
              <a:path w="13674633" h="9970050">
                <a:moveTo>
                  <a:pt x="0" y="0"/>
                </a:moveTo>
                <a:lnTo>
                  <a:pt x="13674633" y="0"/>
                </a:lnTo>
                <a:lnTo>
                  <a:pt x="13674633" y="9970050"/>
                </a:lnTo>
                <a:lnTo>
                  <a:pt x="0" y="997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5994015"/>
            <a:ext cx="2123492" cy="2295667"/>
          </a:xfrm>
          <a:custGeom>
            <a:avLst/>
            <a:gdLst/>
            <a:ahLst/>
            <a:cxnLst/>
            <a:rect l="l" t="t" r="r" b="b"/>
            <a:pathLst>
              <a:path w="2123492" h="2295667">
                <a:moveTo>
                  <a:pt x="0" y="0"/>
                </a:moveTo>
                <a:lnTo>
                  <a:pt x="2123492" y="0"/>
                </a:lnTo>
                <a:lnTo>
                  <a:pt x="2123492" y="2295666"/>
                </a:lnTo>
                <a:lnTo>
                  <a:pt x="0" y="2295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7094953" y="5951184"/>
            <a:ext cx="2250356" cy="2381329"/>
          </a:xfrm>
          <a:custGeom>
            <a:avLst/>
            <a:gdLst/>
            <a:ahLst/>
            <a:cxnLst/>
            <a:rect l="l" t="t" r="r" b="b"/>
            <a:pathLst>
              <a:path w="2250356" h="2381329">
                <a:moveTo>
                  <a:pt x="0" y="0"/>
                </a:moveTo>
                <a:lnTo>
                  <a:pt x="2250356" y="0"/>
                </a:lnTo>
                <a:lnTo>
                  <a:pt x="2250356" y="2381328"/>
                </a:lnTo>
                <a:lnTo>
                  <a:pt x="0" y="23813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028700" y="876300"/>
            <a:ext cx="7628745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03/</a:t>
            </a:r>
          </a:p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PROBLEMÁTICA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927473"/>
            <a:ext cx="8193844" cy="298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9"/>
              </a:lnSpc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Perspectiva del cliente:</a:t>
            </a:r>
            <a:r>
              <a:rPr lang="en-US" sz="189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información distribuida, sin filtro único por tipo de experiencia, ambiente, temática, ubicación, disponibilidad y preferencias personales.</a:t>
            </a:r>
          </a:p>
          <a:p>
            <a:pPr algn="just">
              <a:lnSpc>
                <a:spcPts val="2649"/>
              </a:lnSpc>
            </a:pPr>
            <a:endParaRPr lang="en-US" sz="1892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649"/>
              </a:lnSpc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Perspectiva del establecimiento: </a:t>
            </a:r>
            <a:r>
              <a:rPr lang="en-US" sz="189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información generada (reservas, ocupación, cancelaciones) que se usa para operar en el día a día y convertirse en conocimiento accionable para la toma de decisiones.</a:t>
            </a:r>
          </a:p>
          <a:p>
            <a:pPr algn="just">
              <a:lnSpc>
                <a:spcPts val="2649"/>
              </a:lnSpc>
            </a:pPr>
            <a:endParaRPr lang="en-US" sz="1892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376868" y="7843749"/>
            <a:ext cx="12556167" cy="484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15"/>
              </a:lnSpc>
            </a:pPr>
            <a:r>
              <a:rPr lang="en-US" sz="1868">
                <a:solidFill>
                  <a:srgbClr val="FFFFFF">
                    <a:alpha val="0"/>
                  </a:srgbClr>
                </a:solidFill>
                <a:latin typeface="Garet"/>
                <a:ea typeface="Garet"/>
                <a:cs typeface="Garet"/>
                <a:sym typeface="Garet"/>
              </a:rPr>
              <a:t>BarMatchIA no es solo una agenda digital; integra tres capas operativas: descubrimiento, operación en tiempo real y analítica predictiva.</a:t>
            </a:r>
          </a:p>
          <a:p>
            <a:pPr algn="just">
              <a:lnSpc>
                <a:spcPts val="2615"/>
              </a:lnSpc>
            </a:pPr>
            <a:endParaRPr lang="en-US" sz="1868">
              <a:solidFill>
                <a:srgbClr val="FFFFFF">
                  <a:alpha val="0"/>
                </a:srgbClr>
              </a:solidFill>
              <a:latin typeface="Garet"/>
              <a:ea typeface="Garet"/>
              <a:cs typeface="Garet"/>
              <a:sym typeface="Garet"/>
            </a:endParaRPr>
          </a:p>
          <a:p>
            <a:pPr marL="403310" lvl="1" indent="-201655" algn="l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FFFFFF">
                    <a:alpha val="0"/>
                  </a:srgbClr>
                </a:solidFill>
                <a:latin typeface="Garet"/>
                <a:ea typeface="Garet"/>
                <a:cs typeface="Garet"/>
                <a:sym typeface="Garet"/>
              </a:rPr>
              <a:t>La Solución: El cliente utiliza una app móvil para explorar y asegurar su cupo mediante un código QR. El local gestiona reservas, acomoda clientes sin aviso (walk-ins) y recibe recomendaciones de inteligencia artificial para optimizar su ocupación. </a:t>
            </a:r>
          </a:p>
          <a:p>
            <a:pPr algn="l">
              <a:lnSpc>
                <a:spcPts val="2615"/>
              </a:lnSpc>
            </a:pPr>
            <a:endParaRPr lang="en-US" sz="1868">
              <a:solidFill>
                <a:srgbClr val="FFFFFF">
                  <a:alpha val="0"/>
                </a:srgbClr>
              </a:solidFill>
              <a:latin typeface="Garet"/>
              <a:ea typeface="Garet"/>
              <a:cs typeface="Garet"/>
              <a:sym typeface="Garet"/>
            </a:endParaRPr>
          </a:p>
          <a:p>
            <a:pPr marL="403310" lvl="1" indent="-201655" algn="just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FFFFFF">
                    <a:alpha val="0"/>
                  </a:srgbClr>
                </a:solidFill>
                <a:latin typeface="Garet"/>
                <a:ea typeface="Garet"/>
                <a:cs typeface="Garet"/>
                <a:sym typeface="Garet"/>
              </a:rPr>
              <a:t>Competencias: A diferencia de la competencia, el motor determinístico gestiona la "capacidad reservable" permitiendo holguras frente a la capacidad física, sin obligar al local a asignar mesas específicas hasta el momento del check-in. </a:t>
            </a:r>
          </a:p>
          <a:p>
            <a:pPr algn="just">
              <a:lnSpc>
                <a:spcPts val="2615"/>
              </a:lnSpc>
            </a:pPr>
            <a:endParaRPr lang="en-US" sz="1868">
              <a:solidFill>
                <a:srgbClr val="FFFFFF">
                  <a:alpha val="0"/>
                </a:srgbClr>
              </a:solidFill>
              <a:latin typeface="Garet"/>
              <a:ea typeface="Garet"/>
              <a:cs typeface="Garet"/>
              <a:sym typeface="Garet"/>
            </a:endParaRPr>
          </a:p>
          <a:p>
            <a:pPr marL="403310" lvl="1" indent="-201655" algn="just">
              <a:lnSpc>
                <a:spcPts val="2615"/>
              </a:lnSpc>
              <a:buFont typeface="Arial"/>
              <a:buChar char="•"/>
            </a:pPr>
            <a:r>
              <a:rPr lang="en-US" sz="1868">
                <a:solidFill>
                  <a:srgbClr val="FFFFFF">
                    <a:alpha val="0"/>
                  </a:srgbClr>
                </a:solidFill>
                <a:latin typeface="Garet"/>
                <a:ea typeface="Garet"/>
                <a:cs typeface="Garet"/>
                <a:sym typeface="Garet"/>
              </a:rPr>
              <a:t>Modelo de Negocio: Opera bajo un esquema B2B2C donde el cliente final accede sin costo para maximizar la adopción, mientras el establecimiento paga una suscripción (niveles Base o Avanzado) según el uso de herramientas analíticas. </a:t>
            </a:r>
          </a:p>
          <a:p>
            <a:pPr algn="just">
              <a:lnSpc>
                <a:spcPts val="2615"/>
              </a:lnSpc>
            </a:pPr>
            <a:endParaRPr lang="en-US" sz="1868">
              <a:solidFill>
                <a:srgbClr val="FFFFFF">
                  <a:alpha val="0"/>
                </a:srgbClr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8866721"/>
            <a:ext cx="16230600" cy="74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3"/>
              </a:lnSpc>
            </a:pPr>
            <a:r>
              <a:rPr lang="en-US" sz="2167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"No es un problema de falta de información, es un problema de información fragmentada para el cliente, y de información desaprovechada para el establecimiento."</a:t>
            </a:r>
          </a:p>
        </p:txBody>
      </p:sp>
      <p:sp>
        <p:nvSpPr>
          <p:cNvPr id="9" name="Freeform 9"/>
          <p:cNvSpPr/>
          <p:nvPr/>
        </p:nvSpPr>
        <p:spPr>
          <a:xfrm>
            <a:off x="3872797" y="5761431"/>
            <a:ext cx="2760834" cy="2760834"/>
          </a:xfrm>
          <a:custGeom>
            <a:avLst/>
            <a:gdLst/>
            <a:ahLst/>
            <a:cxnLst/>
            <a:rect l="l" t="t" r="r" b="b"/>
            <a:pathLst>
              <a:path w="2760834" h="2760834">
                <a:moveTo>
                  <a:pt x="0" y="0"/>
                </a:moveTo>
                <a:lnTo>
                  <a:pt x="2760834" y="0"/>
                </a:lnTo>
                <a:lnTo>
                  <a:pt x="2760834" y="2760834"/>
                </a:lnTo>
                <a:lnTo>
                  <a:pt x="0" y="27608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603855" y="2552918"/>
            <a:ext cx="10206166" cy="6290709"/>
          </a:xfrm>
          <a:custGeom>
            <a:avLst/>
            <a:gdLst/>
            <a:ahLst/>
            <a:cxnLst/>
            <a:rect l="l" t="t" r="r" b="b"/>
            <a:pathLst>
              <a:path w="10206166" h="6290709">
                <a:moveTo>
                  <a:pt x="0" y="0"/>
                </a:moveTo>
                <a:lnTo>
                  <a:pt x="10206166" y="0"/>
                </a:lnTo>
                <a:lnTo>
                  <a:pt x="10206166" y="6290710"/>
                </a:lnTo>
                <a:lnTo>
                  <a:pt x="0" y="6290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2713284" y="218314"/>
            <a:ext cx="10244513" cy="8325995"/>
          </a:xfrm>
          <a:custGeom>
            <a:avLst/>
            <a:gdLst/>
            <a:ahLst/>
            <a:cxnLst/>
            <a:rect l="l" t="t" r="r" b="b"/>
            <a:pathLst>
              <a:path w="10244513" h="8325995">
                <a:moveTo>
                  <a:pt x="0" y="0"/>
                </a:moveTo>
                <a:lnTo>
                  <a:pt x="10244512" y="0"/>
                </a:lnTo>
                <a:lnTo>
                  <a:pt x="10244512" y="8325995"/>
                </a:lnTo>
                <a:lnTo>
                  <a:pt x="0" y="83259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65916" y="3470235"/>
            <a:ext cx="12556167" cy="290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15"/>
              </a:lnSpc>
            </a:pPr>
            <a:r>
              <a:rPr lang="en-US" sz="1868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Propuesta de valor integrada, con dos frentes que conviven en una misma plataforma:</a:t>
            </a:r>
          </a:p>
          <a:p>
            <a:pPr algn="just">
              <a:lnSpc>
                <a:spcPts val="2615"/>
              </a:lnSpc>
            </a:pPr>
            <a:endParaRPr lang="en-US" sz="1868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03310" lvl="1" indent="-201655" algn="just">
              <a:lnSpc>
                <a:spcPts val="2615"/>
              </a:lnSpc>
              <a:buFont typeface="Arial"/>
              <a:buChar char="•"/>
            </a:pPr>
            <a:r>
              <a:rPr lang="en-US" sz="1868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Para el cliente: </a:t>
            </a:r>
            <a:r>
              <a:rPr lang="en-US" sz="18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descubrir establecimientos según tipo de experiencia deseada, revisar información relevante, consultar disponibilidad real y gestionar reservas.</a:t>
            </a:r>
          </a:p>
          <a:p>
            <a:pPr algn="just">
              <a:lnSpc>
                <a:spcPts val="2615"/>
              </a:lnSpc>
            </a:pPr>
            <a:endParaRPr lang="en-US" sz="1868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3310" lvl="1" indent="-201655" algn="just">
              <a:lnSpc>
                <a:spcPts val="2615"/>
              </a:lnSpc>
              <a:buFont typeface="Arial"/>
              <a:buChar char="•"/>
            </a:pPr>
            <a:r>
              <a:rPr lang="en-US" sz="1868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Para el administrador del establecimiento:</a:t>
            </a:r>
            <a:r>
              <a:rPr lang="en-US" sz="18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mantener actualizada la información de su local, gestionar disponibilidad y reservas, revisar comportamiento histórico y acceder a herramientas analíticas.</a:t>
            </a:r>
          </a:p>
          <a:p>
            <a:pPr algn="just">
              <a:lnSpc>
                <a:spcPts val="2615"/>
              </a:lnSpc>
            </a:pPr>
            <a:endParaRPr lang="en-US" sz="1868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1363759434"/>
              </p:ext>
            </p:extLst>
          </p:nvPr>
        </p:nvGraphicFramePr>
        <p:xfrm>
          <a:off x="3505200" y="6743700"/>
          <a:ext cx="10783887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7" imgW="12925437" imgH="2562154" progId="Excel.Sheet.12">
                  <p:embed/>
                </p:oleObj>
              </mc:Choice>
              <mc:Fallback>
                <p:oleObj name="Worksheet" r:id="rId7" imgW="12925437" imgH="25621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5200" y="6743700"/>
                        <a:ext cx="10783887" cy="176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2884966" y="876300"/>
            <a:ext cx="12556167" cy="254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04/</a:t>
            </a:r>
          </a:p>
          <a:p>
            <a:pPr algn="l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Solución y Propuesta de Valor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38508" y="-567143"/>
            <a:ext cx="15028008" cy="11421286"/>
          </a:xfrm>
          <a:custGeom>
            <a:avLst/>
            <a:gdLst/>
            <a:ahLst/>
            <a:cxnLst/>
            <a:rect l="l" t="t" r="r" b="b"/>
            <a:pathLst>
              <a:path w="15028008" h="11421286">
                <a:moveTo>
                  <a:pt x="0" y="0"/>
                </a:moveTo>
                <a:lnTo>
                  <a:pt x="15028009" y="0"/>
                </a:lnTo>
                <a:lnTo>
                  <a:pt x="15028009" y="11421286"/>
                </a:lnTo>
                <a:lnTo>
                  <a:pt x="0" y="1142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31922" y="8457679"/>
            <a:ext cx="2708743" cy="1153046"/>
          </a:xfrm>
          <a:custGeom>
            <a:avLst/>
            <a:gdLst/>
            <a:ahLst/>
            <a:cxnLst/>
            <a:rect l="l" t="t" r="r" b="b"/>
            <a:pathLst>
              <a:path w="2708743" h="1153046">
                <a:moveTo>
                  <a:pt x="0" y="0"/>
                </a:moveTo>
                <a:lnTo>
                  <a:pt x="2708743" y="0"/>
                </a:lnTo>
                <a:lnTo>
                  <a:pt x="2708743" y="1153046"/>
                </a:lnTo>
                <a:lnTo>
                  <a:pt x="0" y="1153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69" t="-64682" r="-1932" b="-687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731922" y="1028700"/>
            <a:ext cx="10156243" cy="8582025"/>
          </a:xfrm>
          <a:custGeom>
            <a:avLst/>
            <a:gdLst/>
            <a:ahLst/>
            <a:cxnLst/>
            <a:rect l="l" t="t" r="r" b="b"/>
            <a:pathLst>
              <a:path w="10156243" h="8582025">
                <a:moveTo>
                  <a:pt x="0" y="0"/>
                </a:moveTo>
                <a:lnTo>
                  <a:pt x="10156243" y="0"/>
                </a:lnTo>
                <a:lnTo>
                  <a:pt x="10156243" y="8582025"/>
                </a:lnTo>
                <a:lnTo>
                  <a:pt x="0" y="8582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876300"/>
            <a:ext cx="6491428" cy="254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05/</a:t>
            </a:r>
          </a:p>
          <a:p>
            <a:pPr algn="just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MAPA TECNOLÓGICO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641373"/>
            <a:ext cx="6014511" cy="5969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Backend: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FastAPI (Python)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Base de datos: 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PostgreSQL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Capa de concurrencia/tiempo real: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Redis (locks atómicos, Pub/Sub)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Comunicación en tiempo real: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Server-Sent Events (SSE)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Frontend: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Sveltkit, desplegado como PWA (un solo codebase para B2C y B2B)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Empaquetado nativo futuro (post-MVP):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Capacitor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Analítica/IA: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Scikit-Learn, Pandas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Infraestructura/despliegue: 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Docker/ Hostinger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Gestión de proyecto: 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Jira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Control de versiones: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Git/ Github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Prototipado: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Figma</a:t>
            </a:r>
          </a:p>
          <a:p>
            <a:pPr marL="428811" lvl="1" indent="-214406" algn="l">
              <a:lnSpc>
                <a:spcPts val="2780"/>
              </a:lnSpc>
              <a:buFont typeface="Arial"/>
              <a:buChar char="•"/>
            </a:pPr>
            <a:r>
              <a:rPr lang="en-US" sz="1986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Arquitectura: </a:t>
            </a:r>
            <a:r>
              <a:rPr lang="en-US" sz="198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Vertical Slice Arquitecture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29583">
            <a:off x="5606132" y="-8673247"/>
            <a:ext cx="15607993" cy="12685041"/>
          </a:xfrm>
          <a:custGeom>
            <a:avLst/>
            <a:gdLst/>
            <a:ahLst/>
            <a:cxnLst/>
            <a:rect l="l" t="t" r="r" b="b"/>
            <a:pathLst>
              <a:path w="15607993" h="12685041">
                <a:moveTo>
                  <a:pt x="0" y="0"/>
                </a:moveTo>
                <a:lnTo>
                  <a:pt x="15607993" y="0"/>
                </a:lnTo>
                <a:lnTo>
                  <a:pt x="15607993" y="12685041"/>
                </a:lnTo>
                <a:lnTo>
                  <a:pt x="0" y="12685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1578771217"/>
              </p:ext>
            </p:extLst>
          </p:nvPr>
        </p:nvGraphicFramePr>
        <p:xfrm>
          <a:off x="1905000" y="2857500"/>
          <a:ext cx="13547726" cy="496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Worksheet" r:id="rId4" imgW="16240281" imgH="6238989" progId="Excel.Sheet.12">
                  <p:embed/>
                </p:oleObj>
              </mc:Choice>
              <mc:Fallback>
                <p:oleObj name="Worksheet" r:id="rId4" imgW="16240281" imgH="62389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5000" y="2857500"/>
                        <a:ext cx="13547726" cy="4968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8700" y="215056"/>
            <a:ext cx="10231770" cy="180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07/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 RIESGOS</a:t>
            </a:r>
          </a:p>
        </p:txBody>
      </p:sp>
      <p:sp>
        <p:nvSpPr>
          <p:cNvPr id="5" name="Freeform 5"/>
          <p:cNvSpPr/>
          <p:nvPr/>
        </p:nvSpPr>
        <p:spPr>
          <a:xfrm rot="909653">
            <a:off x="-2123216" y="7693746"/>
            <a:ext cx="15607993" cy="12685041"/>
          </a:xfrm>
          <a:custGeom>
            <a:avLst/>
            <a:gdLst/>
            <a:ahLst/>
            <a:cxnLst/>
            <a:rect l="l" t="t" r="r" b="b"/>
            <a:pathLst>
              <a:path w="15607993" h="12685041">
                <a:moveTo>
                  <a:pt x="0" y="0"/>
                </a:moveTo>
                <a:lnTo>
                  <a:pt x="15607993" y="0"/>
                </a:lnTo>
                <a:lnTo>
                  <a:pt x="15607993" y="12685041"/>
                </a:lnTo>
                <a:lnTo>
                  <a:pt x="0" y="126850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507135">
            <a:off x="526021" y="-5331363"/>
            <a:ext cx="23878947" cy="9980913"/>
          </a:xfrm>
          <a:custGeom>
            <a:avLst/>
            <a:gdLst/>
            <a:ahLst/>
            <a:cxnLst/>
            <a:rect l="l" t="t" r="r" b="b"/>
            <a:pathLst>
              <a:path w="23878947" h="9980913">
                <a:moveTo>
                  <a:pt x="0" y="0"/>
                </a:moveTo>
                <a:lnTo>
                  <a:pt x="23878947" y="0"/>
                </a:lnTo>
                <a:lnTo>
                  <a:pt x="23878947" y="9980913"/>
                </a:lnTo>
                <a:lnTo>
                  <a:pt x="0" y="9980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66775"/>
            <a:ext cx="5976150" cy="180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08/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SEGURIDAD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0156" y="2862924"/>
            <a:ext cx="8193844" cy="364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8600" lvl="1" indent="-204300" algn="just">
              <a:lnSpc>
                <a:spcPts val="2649"/>
              </a:lnSpc>
              <a:buFont typeface="Arial"/>
              <a:buChar char="•"/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Autenticación y autorización</a:t>
            </a:r>
          </a:p>
          <a:p>
            <a:pPr marL="408600" lvl="1" indent="-204300" algn="just">
              <a:lnSpc>
                <a:spcPts val="2649"/>
              </a:lnSpc>
              <a:buFont typeface="Arial"/>
              <a:buChar char="•"/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Separación de roles (ya mapeada en 4 actores con límites explícitos de función).</a:t>
            </a:r>
          </a:p>
          <a:p>
            <a:pPr marL="408600" lvl="1" indent="-204300" algn="just">
              <a:lnSpc>
                <a:spcPts val="2649"/>
              </a:lnSpc>
              <a:buFont typeface="Arial"/>
              <a:buChar char="•"/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Almacenamiento seguro de contraseñas</a:t>
            </a:r>
          </a:p>
          <a:p>
            <a:pPr marL="408600" lvl="1" indent="-204300" algn="just">
              <a:lnSpc>
                <a:spcPts val="2649"/>
              </a:lnSpc>
              <a:buFont typeface="Arial"/>
              <a:buChar char="•"/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Validación de datos de entrada</a:t>
            </a:r>
          </a:p>
          <a:p>
            <a:pPr marL="408600" lvl="1" indent="-204300" algn="just">
              <a:lnSpc>
                <a:spcPts val="2649"/>
              </a:lnSpc>
              <a:buFont typeface="Arial"/>
              <a:buChar char="•"/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Protección de endpoints</a:t>
            </a:r>
          </a:p>
          <a:p>
            <a:pPr marL="408600" lvl="1" indent="-204300" algn="just">
              <a:lnSpc>
                <a:spcPts val="2649"/>
              </a:lnSpc>
              <a:buFont typeface="Arial"/>
              <a:buChar char="•"/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Manejo de sesiones o tokens</a:t>
            </a:r>
          </a:p>
          <a:p>
            <a:pPr marL="408600" lvl="1" indent="-204300" algn="just">
              <a:lnSpc>
                <a:spcPts val="2649"/>
              </a:lnSpc>
              <a:buFont typeface="Arial"/>
              <a:buChar char="•"/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Gestión de secretos</a:t>
            </a:r>
          </a:p>
          <a:p>
            <a:pPr marL="408600" lvl="1" indent="-204300" algn="just">
              <a:lnSpc>
                <a:spcPts val="2649"/>
              </a:lnSpc>
              <a:buFont typeface="Arial"/>
              <a:buChar char="•"/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Protección de información sensible</a:t>
            </a:r>
          </a:p>
          <a:p>
            <a:pPr marL="408600" lvl="1" indent="-204300" algn="just">
              <a:lnSpc>
                <a:spcPts val="2649"/>
              </a:lnSpc>
              <a:buFont typeface="Arial"/>
              <a:buChar char="•"/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Registros y auditoría</a:t>
            </a:r>
          </a:p>
          <a:p>
            <a:pPr marL="408600" lvl="1" indent="-204300" algn="just">
              <a:lnSpc>
                <a:spcPts val="2649"/>
              </a:lnSpc>
              <a:buFont typeface="Arial"/>
              <a:buChar char="•"/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Control de acceso a funciones administrativas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513243"/>
            <a:ext cx="13365480" cy="112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3"/>
              </a:lnSpc>
            </a:pPr>
            <a:r>
              <a:rPr lang="en-US" sz="2167">
                <a:solidFill>
                  <a:srgbClr val="6651B4"/>
                </a:solidFill>
                <a:latin typeface="Garet"/>
                <a:ea typeface="Garet"/>
                <a:cs typeface="Garet"/>
                <a:sym typeface="Garet"/>
              </a:rPr>
              <a:t>"La seguridad no es una capa que se agrega al final — está en cada uno de los 4 roles del sistema, en el diseño del modelo de datos, y en la forma en que tratamos la información antes de que llegue al componente de IA."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024904"/>
            <a:ext cx="11314875" cy="980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9"/>
              </a:lnSpc>
            </a:pPr>
            <a:r>
              <a:rPr lang="en-US" sz="189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Revisión de qué información es realmente necesaria almacenar para fines analíticos, evitando recopilar datos sin finalidad justificada — esto conecta directo con el principio de minimización de datos de la Ley 21.719.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5370680" y="5143500"/>
            <a:ext cx="15319593" cy="11169376"/>
          </a:xfrm>
          <a:custGeom>
            <a:avLst/>
            <a:gdLst/>
            <a:ahLst/>
            <a:cxnLst/>
            <a:rect l="l" t="t" r="r" b="b"/>
            <a:pathLst>
              <a:path w="15319593" h="11169376">
                <a:moveTo>
                  <a:pt x="0" y="0"/>
                </a:moveTo>
                <a:lnTo>
                  <a:pt x="15319593" y="0"/>
                </a:lnTo>
                <a:lnTo>
                  <a:pt x="15319593" y="11169376"/>
                </a:lnTo>
                <a:lnTo>
                  <a:pt x="0" y="1116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175593" y="-6485421"/>
            <a:ext cx="15319593" cy="11169376"/>
          </a:xfrm>
          <a:custGeom>
            <a:avLst/>
            <a:gdLst/>
            <a:ahLst/>
            <a:cxnLst/>
            <a:rect l="l" t="t" r="r" b="b"/>
            <a:pathLst>
              <a:path w="15319593" h="11169376">
                <a:moveTo>
                  <a:pt x="0" y="0"/>
                </a:moveTo>
                <a:lnTo>
                  <a:pt x="15319593" y="0"/>
                </a:lnTo>
                <a:lnTo>
                  <a:pt x="15319593" y="11169376"/>
                </a:lnTo>
                <a:lnTo>
                  <a:pt x="0" y="1116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62291" y="3449800"/>
            <a:ext cx="7755348" cy="254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09/</a:t>
            </a:r>
          </a:p>
          <a:p>
            <a:pPr algn="r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Modelo de negocio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751390"/>
            <a:ext cx="8115300" cy="8746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7335" lvl="1" indent="-233667" algn="just">
              <a:lnSpc>
                <a:spcPts val="3030"/>
              </a:lnSpc>
              <a:buFont typeface="Arial"/>
              <a:buChar char="•"/>
            </a:pPr>
            <a:r>
              <a:rPr lang="en-US" sz="2164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Modelo B2B2C: </a:t>
            </a:r>
            <a:r>
              <a:rPr lang="en-US" sz="21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el establecimiento paga, el consumidor utilizar gratis.</a:t>
            </a:r>
          </a:p>
          <a:p>
            <a:pPr algn="just">
              <a:lnSpc>
                <a:spcPts val="3030"/>
              </a:lnSpc>
            </a:pPr>
            <a:endParaRPr lang="en-US" sz="21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67335" lvl="1" indent="-233667" algn="just">
              <a:lnSpc>
                <a:spcPts val="3030"/>
              </a:lnSpc>
              <a:buFont typeface="Arial"/>
              <a:buChar char="•"/>
            </a:pPr>
            <a:r>
              <a:rPr lang="en-US" sz="2164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Cliente Pagante - B2B: </a:t>
            </a:r>
            <a:r>
              <a:rPr lang="en-US" sz="21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Bares, pubs y locales nocturnos pequeños/medianos</a:t>
            </a:r>
          </a:p>
          <a:p>
            <a:pPr algn="just">
              <a:lnSpc>
                <a:spcPts val="3030"/>
              </a:lnSpc>
            </a:pPr>
            <a:endParaRPr lang="en-US" sz="21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67335" lvl="1" indent="-233667" algn="just">
              <a:lnSpc>
                <a:spcPts val="3030"/>
              </a:lnSpc>
              <a:buFont typeface="Arial"/>
              <a:buChar char="•"/>
            </a:pPr>
            <a:r>
              <a:rPr lang="en-US" sz="2164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Usuario final - B2C: </a:t>
            </a:r>
            <a:r>
              <a:rPr lang="en-US" sz="21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usuarios entre 20 y 40 años que buscan planificar sus salidas.</a:t>
            </a:r>
          </a:p>
          <a:p>
            <a:pPr algn="just">
              <a:lnSpc>
                <a:spcPts val="3030"/>
              </a:lnSpc>
            </a:pPr>
            <a:endParaRPr lang="en-US" sz="21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67335" lvl="1" indent="-233667" algn="just">
              <a:lnSpc>
                <a:spcPts val="3030"/>
              </a:lnSpc>
              <a:buFont typeface="Arial"/>
              <a:buChar char="•"/>
            </a:pPr>
            <a:r>
              <a:rPr lang="en-US" sz="2164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Propuesta de valor para locales: </a:t>
            </a:r>
            <a:r>
              <a:rPr lang="en-US" sz="21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gestión de reservas + optimización de aforo + reducción de no-show + analítica operacional.</a:t>
            </a:r>
          </a:p>
          <a:p>
            <a:pPr algn="just">
              <a:lnSpc>
                <a:spcPts val="3030"/>
              </a:lnSpc>
            </a:pPr>
            <a:endParaRPr lang="en-US" sz="21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67335" lvl="1" indent="-233667" algn="l">
              <a:lnSpc>
                <a:spcPts val="3030"/>
              </a:lnSpc>
              <a:buFont typeface="Arial"/>
              <a:buChar char="•"/>
            </a:pPr>
            <a:r>
              <a:rPr lang="en-US" sz="2164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Propuesta de valor para el usuario: </a:t>
            </a:r>
            <a:r>
              <a:rPr lang="en-US" sz="21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descubrimiento de locales + disponibilidad real + reserva confirmada + QR.</a:t>
            </a:r>
          </a:p>
          <a:p>
            <a:pPr algn="l">
              <a:lnSpc>
                <a:spcPts val="3030"/>
              </a:lnSpc>
            </a:pPr>
            <a:endParaRPr lang="en-US" sz="21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67335" lvl="1" indent="-233667" algn="l">
              <a:lnSpc>
                <a:spcPts val="3030"/>
              </a:lnSpc>
              <a:buFont typeface="Arial"/>
              <a:buChar char="•"/>
            </a:pPr>
            <a:r>
              <a:rPr lang="en-US" sz="2164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Ingresos:</a:t>
            </a:r>
            <a:r>
              <a:rPr lang="en-US" sz="21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por suscripción mensual (Plan Base - Plan Avanzado - Futuro: posicionamiento destacado e integración)</a:t>
            </a:r>
          </a:p>
          <a:p>
            <a:pPr algn="l">
              <a:lnSpc>
                <a:spcPts val="3030"/>
              </a:lnSpc>
            </a:pPr>
            <a:endParaRPr lang="en-US" sz="21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67335" lvl="1" indent="-233667" algn="l">
              <a:lnSpc>
                <a:spcPts val="3030"/>
              </a:lnSpc>
              <a:buFont typeface="Arial"/>
              <a:buChar char="•"/>
            </a:pPr>
            <a:r>
              <a:rPr lang="en-US" sz="21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Diferenciador: IA para recomendaciones según ajustes y preferencias del usuario.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48277" y="111649"/>
            <a:ext cx="13535526" cy="10287000"/>
          </a:xfrm>
          <a:custGeom>
            <a:avLst/>
            <a:gdLst/>
            <a:ahLst/>
            <a:cxnLst/>
            <a:rect l="l" t="t" r="r" b="b"/>
            <a:pathLst>
              <a:path w="13535526" h="10287000">
                <a:moveTo>
                  <a:pt x="0" y="0"/>
                </a:moveTo>
                <a:lnTo>
                  <a:pt x="13535526" y="0"/>
                </a:lnTo>
                <a:lnTo>
                  <a:pt x="13535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789942"/>
            <a:ext cx="3552995" cy="7463596"/>
          </a:xfrm>
          <a:custGeom>
            <a:avLst/>
            <a:gdLst/>
            <a:ahLst/>
            <a:cxnLst/>
            <a:rect l="l" t="t" r="r" b="b"/>
            <a:pathLst>
              <a:path w="3552995" h="7463596">
                <a:moveTo>
                  <a:pt x="0" y="0"/>
                </a:moveTo>
                <a:lnTo>
                  <a:pt x="3552995" y="0"/>
                </a:lnTo>
                <a:lnTo>
                  <a:pt x="3552995" y="7463596"/>
                </a:lnTo>
                <a:lnTo>
                  <a:pt x="0" y="74635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16661" y="1789942"/>
            <a:ext cx="3515537" cy="7468358"/>
          </a:xfrm>
          <a:custGeom>
            <a:avLst/>
            <a:gdLst/>
            <a:ahLst/>
            <a:cxnLst/>
            <a:rect l="l" t="t" r="r" b="b"/>
            <a:pathLst>
              <a:path w="3515537" h="7468358">
                <a:moveTo>
                  <a:pt x="0" y="0"/>
                </a:moveTo>
                <a:lnTo>
                  <a:pt x="3515537" y="0"/>
                </a:lnTo>
                <a:lnTo>
                  <a:pt x="3515537" y="7468358"/>
                </a:lnTo>
                <a:lnTo>
                  <a:pt x="0" y="7468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751281" y="876300"/>
            <a:ext cx="5508019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10/</a:t>
            </a:r>
          </a:p>
          <a:p>
            <a:pPr algn="just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MOCKUPs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51281" y="2775305"/>
            <a:ext cx="5508019" cy="962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67" lvl="1" indent="-201283" algn="l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Usuario final (browsing y reservas)</a:t>
            </a:r>
          </a:p>
          <a:p>
            <a:pPr algn="l">
              <a:lnSpc>
                <a:spcPts val="2610"/>
              </a:lnSpc>
            </a:pPr>
            <a:endParaRPr lang="en-US" sz="18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2567" lvl="1" indent="-201283" algn="l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App Movil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17387" y="9258300"/>
            <a:ext cx="18713545" cy="7821880"/>
          </a:xfrm>
          <a:custGeom>
            <a:avLst/>
            <a:gdLst/>
            <a:ahLst/>
            <a:cxnLst/>
            <a:rect l="l" t="t" r="r" b="b"/>
            <a:pathLst>
              <a:path w="18713545" h="7821880">
                <a:moveTo>
                  <a:pt x="0" y="0"/>
                </a:moveTo>
                <a:lnTo>
                  <a:pt x="18713545" y="0"/>
                </a:lnTo>
                <a:lnTo>
                  <a:pt x="18713545" y="7821880"/>
                </a:lnTo>
                <a:lnTo>
                  <a:pt x="0" y="7821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525175" y="-6654433"/>
            <a:ext cx="18713545" cy="7821880"/>
          </a:xfrm>
          <a:custGeom>
            <a:avLst/>
            <a:gdLst/>
            <a:ahLst/>
            <a:cxnLst/>
            <a:rect l="l" t="t" r="r" b="b"/>
            <a:pathLst>
              <a:path w="18713545" h="7821880">
                <a:moveTo>
                  <a:pt x="0" y="0"/>
                </a:moveTo>
                <a:lnTo>
                  <a:pt x="18713545" y="0"/>
                </a:lnTo>
                <a:lnTo>
                  <a:pt x="18713545" y="7821881"/>
                </a:lnTo>
                <a:lnTo>
                  <a:pt x="0" y="7821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028700"/>
            <a:ext cx="6192803" cy="8229600"/>
          </a:xfrm>
          <a:custGeom>
            <a:avLst/>
            <a:gdLst/>
            <a:ahLst/>
            <a:cxnLst/>
            <a:rect l="l" t="t" r="r" b="b"/>
            <a:pathLst>
              <a:path w="6192803" h="8229600">
                <a:moveTo>
                  <a:pt x="0" y="0"/>
                </a:moveTo>
                <a:lnTo>
                  <a:pt x="6192803" y="0"/>
                </a:lnTo>
                <a:lnTo>
                  <a:pt x="61928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539386" y="1028700"/>
            <a:ext cx="6207369" cy="8229600"/>
          </a:xfrm>
          <a:custGeom>
            <a:avLst/>
            <a:gdLst/>
            <a:ahLst/>
            <a:cxnLst/>
            <a:rect l="l" t="t" r="r" b="b"/>
            <a:pathLst>
              <a:path w="6207369" h="8229600">
                <a:moveTo>
                  <a:pt x="0" y="0"/>
                </a:moveTo>
                <a:lnTo>
                  <a:pt x="6207369" y="0"/>
                </a:lnTo>
                <a:lnTo>
                  <a:pt x="620736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061080" y="1005523"/>
            <a:ext cx="3198220" cy="357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10/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Mockups p2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04430" y="4805230"/>
            <a:ext cx="3354870" cy="258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67" lvl="1" indent="-201283" algn="l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Empleado establecimiento (confirmación de reservas y estado de concurrencia)</a:t>
            </a:r>
          </a:p>
          <a:p>
            <a:pPr algn="l">
              <a:lnSpc>
                <a:spcPts val="2610"/>
              </a:lnSpc>
            </a:pPr>
            <a:endParaRPr lang="en-US" sz="18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2567" lvl="1" indent="-201283" algn="l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App movil (adaptativa a tablets)</a:t>
            </a:r>
          </a:p>
        </p:txBody>
      </p:sp>
      <p:sp>
        <p:nvSpPr>
          <p:cNvPr id="8" name="Freeform 8"/>
          <p:cNvSpPr/>
          <p:nvPr/>
        </p:nvSpPr>
        <p:spPr>
          <a:xfrm rot="3015496">
            <a:off x="11548527" y="9567227"/>
            <a:ext cx="15319593" cy="11169376"/>
          </a:xfrm>
          <a:custGeom>
            <a:avLst/>
            <a:gdLst/>
            <a:ahLst/>
            <a:cxnLst/>
            <a:rect l="l" t="t" r="r" b="b"/>
            <a:pathLst>
              <a:path w="15319593" h="11169376">
                <a:moveTo>
                  <a:pt x="0" y="0"/>
                </a:moveTo>
                <a:lnTo>
                  <a:pt x="15319593" y="0"/>
                </a:lnTo>
                <a:lnTo>
                  <a:pt x="15319593" y="11169377"/>
                </a:lnTo>
                <a:lnTo>
                  <a:pt x="0" y="11169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33014">
            <a:off x="13682163" y="7853781"/>
            <a:ext cx="10644233" cy="8089617"/>
          </a:xfrm>
          <a:custGeom>
            <a:avLst/>
            <a:gdLst/>
            <a:ahLst/>
            <a:cxnLst/>
            <a:rect l="l" t="t" r="r" b="b"/>
            <a:pathLst>
              <a:path w="10644233" h="8089617">
                <a:moveTo>
                  <a:pt x="0" y="0"/>
                </a:moveTo>
                <a:lnTo>
                  <a:pt x="10644234" y="0"/>
                </a:lnTo>
                <a:lnTo>
                  <a:pt x="10644234" y="8089618"/>
                </a:lnTo>
                <a:lnTo>
                  <a:pt x="0" y="8089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028700"/>
            <a:ext cx="13062857" cy="8229600"/>
          </a:xfrm>
          <a:custGeom>
            <a:avLst/>
            <a:gdLst/>
            <a:ahLst/>
            <a:cxnLst/>
            <a:rect l="l" t="t" r="r" b="b"/>
            <a:pathLst>
              <a:path w="13062857" h="8229600">
                <a:moveTo>
                  <a:pt x="0" y="0"/>
                </a:moveTo>
                <a:lnTo>
                  <a:pt x="13062857" y="0"/>
                </a:lnTo>
                <a:lnTo>
                  <a:pt x="130628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518280" y="866775"/>
            <a:ext cx="3198220" cy="357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10 /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Mockups p3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18280" y="4926783"/>
            <a:ext cx="3354870" cy="258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67" lvl="1" indent="-201283" algn="l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Administrador del establecimiento (monitoreo de reservas, estado de concurrencia, reseñas y publicaciones)</a:t>
            </a:r>
          </a:p>
          <a:p>
            <a:pPr algn="l">
              <a:lnSpc>
                <a:spcPts val="2610"/>
              </a:lnSpc>
            </a:pPr>
            <a:endParaRPr lang="en-US" sz="18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2567" lvl="1" indent="-201283" algn="l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App escritorio </a:t>
            </a:r>
          </a:p>
        </p:txBody>
      </p:sp>
      <p:sp>
        <p:nvSpPr>
          <p:cNvPr id="6" name="Freeform 6"/>
          <p:cNvSpPr/>
          <p:nvPr/>
        </p:nvSpPr>
        <p:spPr>
          <a:xfrm rot="1133014">
            <a:off x="-9177837" y="-2814219"/>
            <a:ext cx="10644233" cy="8089617"/>
          </a:xfrm>
          <a:custGeom>
            <a:avLst/>
            <a:gdLst/>
            <a:ahLst/>
            <a:cxnLst/>
            <a:rect l="l" t="t" r="r" b="b"/>
            <a:pathLst>
              <a:path w="10644233" h="8089617">
                <a:moveTo>
                  <a:pt x="0" y="0"/>
                </a:moveTo>
                <a:lnTo>
                  <a:pt x="10644234" y="0"/>
                </a:lnTo>
                <a:lnTo>
                  <a:pt x="10644234" y="8089618"/>
                </a:lnTo>
                <a:lnTo>
                  <a:pt x="0" y="8089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78351" y="0"/>
            <a:ext cx="13535526" cy="10287000"/>
          </a:xfrm>
          <a:custGeom>
            <a:avLst/>
            <a:gdLst/>
            <a:ahLst/>
            <a:cxnLst/>
            <a:rect l="l" t="t" r="r" b="b"/>
            <a:pathLst>
              <a:path w="13535526" h="10287000">
                <a:moveTo>
                  <a:pt x="0" y="0"/>
                </a:moveTo>
                <a:lnTo>
                  <a:pt x="13535526" y="0"/>
                </a:lnTo>
                <a:lnTo>
                  <a:pt x="13535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76300"/>
            <a:ext cx="6582115" cy="17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11/</a:t>
            </a:r>
          </a:p>
          <a:p>
            <a:pPr algn="just">
              <a:lnSpc>
                <a:spcPts val="6630"/>
              </a:lnSpc>
            </a:pPr>
            <a:r>
              <a:rPr lang="en-US" sz="473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55341" y="2790561"/>
            <a:ext cx="11903959" cy="646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2567" lvl="1" indent="-201283" algn="just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Entrega a los locales herramientas digitales para administrar sus reservas y convierte su información operacional en conocimiento útil para la toma de decisiones. </a:t>
            </a:r>
          </a:p>
          <a:p>
            <a:pPr algn="just">
              <a:lnSpc>
                <a:spcPts val="2610"/>
              </a:lnSpc>
            </a:pPr>
            <a:endParaRPr lang="en-US" sz="18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2567" lvl="1" indent="-201283" algn="just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Transforma la situación tradicional de incertidumbre ("llegar y descubrir que no hay disponibilidad") en un flujo predecible: descubrir alternativas, consultar disponibilidad real, reservar, recibir confirmación y llegar con un QR asegurado. </a:t>
            </a:r>
          </a:p>
          <a:p>
            <a:pPr algn="just">
              <a:lnSpc>
                <a:spcPts val="2610"/>
              </a:lnSpc>
            </a:pPr>
            <a:endParaRPr lang="en-US" sz="18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2567" lvl="1" indent="-201283" algn="just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Posiciona al producto no solo como una agenda, sino como un ecosistema que evoluciona desde la transacción básica hacia una plataforma inteligente basada en datos. </a:t>
            </a:r>
          </a:p>
          <a:p>
            <a:pPr algn="just">
              <a:lnSpc>
                <a:spcPts val="2610"/>
              </a:lnSpc>
            </a:pPr>
            <a:endParaRPr lang="en-US" sz="18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2567" lvl="1" indent="-201283" algn="just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El desarrollo está estructurado para entregar valor inmediato mediante un Release 1 (MVP) enfocado en el motor de reservas y la operatividad básica. </a:t>
            </a:r>
          </a:p>
          <a:p>
            <a:pPr algn="just">
              <a:lnSpc>
                <a:spcPts val="2610"/>
              </a:lnSpc>
            </a:pPr>
            <a:endParaRPr lang="en-US" sz="18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2567" lvl="1" indent="-201283" algn="just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Esta ejecución incremental permite que la plataforma comience a generar la información histórica requerida para alimentar y entrenar los futuros modelos predictivos de Machine Learning, mitigando el riesgo de "arranque en frío". </a:t>
            </a:r>
          </a:p>
          <a:p>
            <a:pPr algn="just">
              <a:lnSpc>
                <a:spcPts val="2610"/>
              </a:lnSpc>
            </a:pPr>
            <a:endParaRPr lang="en-US" sz="186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2567" lvl="1" indent="-201283" algn="just">
              <a:lnSpc>
                <a:spcPts val="2610"/>
              </a:lnSpc>
              <a:buFont typeface="Arial"/>
              <a:buChar char="•"/>
            </a:pPr>
            <a:r>
              <a:rPr lang="en-US" sz="186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El proyecto demuestra de manera práctica la integración de competencias clave del perfil de egreso: diseño de experiencia de usuario, arquitectura de software, persistencia de datos, gestión de roles de seguridad y aplicación de técnicas de analítica.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611489">
            <a:off x="3821883" y="1314315"/>
            <a:ext cx="10644233" cy="8089617"/>
          </a:xfrm>
          <a:custGeom>
            <a:avLst/>
            <a:gdLst/>
            <a:ahLst/>
            <a:cxnLst/>
            <a:rect l="l" t="t" r="r" b="b"/>
            <a:pathLst>
              <a:path w="10644233" h="8089617">
                <a:moveTo>
                  <a:pt x="0" y="0"/>
                </a:moveTo>
                <a:lnTo>
                  <a:pt x="10644234" y="0"/>
                </a:lnTo>
                <a:lnTo>
                  <a:pt x="10644234" y="8089617"/>
                </a:lnTo>
                <a:lnTo>
                  <a:pt x="0" y="8089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41916" y="4602163"/>
            <a:ext cx="8804167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1182</Words>
  <Application>Microsoft Office PowerPoint</Application>
  <PresentationFormat>Personalizado</PresentationFormat>
  <Paragraphs>119</Paragraphs>
  <Slides>15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Arial</vt:lpstr>
      <vt:lpstr>Garet Bold</vt:lpstr>
      <vt:lpstr>Garet Italics</vt:lpstr>
      <vt:lpstr>Horizon</vt:lpstr>
      <vt:lpstr>Garet</vt:lpstr>
      <vt:lpstr>Calibri</vt:lpstr>
      <vt:lpstr>Office Theme</vt:lpstr>
      <vt:lpstr>Microsoft Excel 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Propuestaa Proyecto Semestral</dc:title>
  <dc:creator>Elizabeth Martinez</dc:creator>
  <cp:lastModifiedBy>Daniel G</cp:lastModifiedBy>
  <cp:revision>2</cp:revision>
  <dcterms:created xsi:type="dcterms:W3CDTF">2006-08-16T00:00:00Z</dcterms:created>
  <dcterms:modified xsi:type="dcterms:W3CDTF">2026-09-21T19:28:16Z</dcterms:modified>
  <dc:identifier>DAHTisJlAAY</dc:identifier>
</cp:coreProperties>
</file>